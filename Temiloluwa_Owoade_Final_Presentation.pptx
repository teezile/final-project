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9cd4d4e9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99cd4d4e9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99cd4d4e9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99cd4d4e9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d99cd4d4e9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99cd4d4e9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99cd4d4e9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d99cd4d4e9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99cd4d4e9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F3460">
              <a:alpha val="40000"/>
            </a:srgbClr>
          </a:solidFill>
          <a:ln cap="flat" cmpd="sng" w="12700">
            <a:solidFill>
              <a:srgbClr val="0F346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533483">
              <a:alpha val="30196"/>
            </a:srgbClr>
          </a:solidFill>
          <a:ln cap="flat" cmpd="sng" w="12700">
            <a:solidFill>
              <a:srgbClr val="533483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Crime Patterns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Capital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Exploring Crime Patterns Across Washington D.C. in 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342900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Temiloluwa Owoade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MATH 014 — Introduction to Data Science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Spring 2026  |  Howard University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 | Dataset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4320" y="914400"/>
            <a:ext cx="2743200" cy="34747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11480" y="10515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1480" y="15544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Reported crime incidents across Washington D.C. for the full year 2025, sourced from DC Open Data.</a:t>
            </a:r>
            <a:endParaRPr b="0" i="0" sz="12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27832" y="914400"/>
            <a:ext cx="2743200" cy="34747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27832" y="914400"/>
            <a:ext cx="27432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64992" y="10515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364992" y="15544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Offense type, date &amp; time, geographic coordinates, ward, police district, PSA, neighborhood cluster, shift, and reporting lag.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81344" y="914400"/>
            <a:ext cx="2743200" cy="34747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181344" y="914400"/>
            <a:ext cx="27432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318504" y="10515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318504" y="15544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Crime data captures spatial, temporal, and categorical dimensions simultaneously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making it analytically rich and socially relevant.</a:t>
            </a:r>
            <a:endParaRPr b="0" i="0" sz="12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Analyzing the data can give us a clearer iunderstanding on what aspects need more government and enforcment support.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can identify trends to pre-emtively prevent crimes.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31520" y="45720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24</a:t>
            </a:r>
            <a:r>
              <a:rPr b="1" i="0" lang="en-US" sz="22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1" lang="en-US" sz="2200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151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1520" y="48737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Incidents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743200" y="45720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-US" sz="2200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743200" y="48737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54880" y="45720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54880" y="48737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766560" y="45720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66560" y="48737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Shifts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75" y="2525400"/>
            <a:ext cx="2577474" cy="1431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/>
          <p:cNvPicPr preferRelativeResize="0"/>
          <p:nvPr/>
        </p:nvPicPr>
        <p:blipFill rotWithShape="1">
          <a:blip r:embed="rId4">
            <a:alphaModFix/>
          </a:blip>
          <a:srcRect b="49546" l="0" r="0" t="0"/>
          <a:stretch/>
        </p:blipFill>
        <p:spPr>
          <a:xfrm>
            <a:off x="3365000" y="2152506"/>
            <a:ext cx="1255625" cy="115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/>
          <p:cNvPicPr preferRelativeResize="0"/>
          <p:nvPr/>
        </p:nvPicPr>
        <p:blipFill rotWithShape="1">
          <a:blip r:embed="rId5">
            <a:alphaModFix/>
          </a:blip>
          <a:srcRect b="0" l="0" r="55305" t="0"/>
          <a:stretch/>
        </p:blipFill>
        <p:spPr>
          <a:xfrm>
            <a:off x="4620625" y="2151686"/>
            <a:ext cx="1146544" cy="1256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/>
          <p:cNvPicPr preferRelativeResize="0"/>
          <p:nvPr/>
        </p:nvPicPr>
        <p:blipFill rotWithShape="1">
          <a:blip r:embed="rId4">
            <a:alphaModFix/>
          </a:blip>
          <a:srcRect b="0" l="-7085" r="9362" t="51478"/>
          <a:stretch/>
        </p:blipFill>
        <p:spPr>
          <a:xfrm>
            <a:off x="3903050" y="3279150"/>
            <a:ext cx="1227025" cy="11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33483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 | Research Objective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drives crime patterns across Washington D.C.?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874520"/>
            <a:ext cx="4023360" cy="1005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02920" y="19476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2920" y="22402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Which wards and neighborhood clusters concentrate the most incidents?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3154680"/>
            <a:ext cx="4023360" cy="1005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02920" y="32278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When?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2920" y="3520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Do crime rates follow seasonal, monthly, or shift-based patterns?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754880" y="1874520"/>
            <a:ext cx="4023360" cy="1005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892040" y="19476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What?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892040" y="22402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Which offense types dominate</a:t>
            </a: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and do they vary by location and time?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54880" y="3154680"/>
            <a:ext cx="4023360" cy="10058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892040" y="32278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How Long?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92040" y="3520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Is there a meaningful gap between when crimes occur and when they are reported?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 | Data Cleaning &amp; Preparation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74320" y="736213"/>
            <a:ext cx="411600" cy="411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274320" y="736213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22952" y="745363"/>
            <a:ext cx="271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Null value removal &amp; Gap closure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67275" y="1019688"/>
            <a:ext cx="353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null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were removed.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OCTO_RECORD_ID column and BID was removed 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DISTRICT and PSA was closed (using data form the DC public data set).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755070" y="810197"/>
            <a:ext cx="411600" cy="411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755070" y="810197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303710" y="819341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End Dates where modified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583872" y="819350"/>
            <a:ext cx="22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Ongoing cases where stated as 1st January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4352" t="6006"/>
          <a:stretch/>
        </p:blipFill>
        <p:spPr>
          <a:xfrm>
            <a:off x="1257600" y="1897425"/>
            <a:ext cx="2813650" cy="305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3975" y="1765347"/>
            <a:ext cx="2813650" cy="3185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 | Key Analysis Questions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74320" y="868680"/>
            <a:ext cx="54864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274320" y="8686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60120" y="960120"/>
            <a:ext cx="786384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097280" y="941832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Which offense types are most frequently reported across Washington D.C. in 2025?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74320" y="1545336"/>
            <a:ext cx="54864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274320" y="1545336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60120" y="1636776"/>
            <a:ext cx="786384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097280" y="161848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How is crime distributed across the city's eight wards — and which wards bear the greatest burden?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74320" y="2221992"/>
            <a:ext cx="54864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274320" y="222199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960120" y="2313432"/>
            <a:ext cx="786384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097280" y="229514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Does the type of offense vary significantly by ward, or is the composition relatively uniform citywide?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74320" y="2898648"/>
            <a:ext cx="54864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274320" y="289864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60120" y="2990088"/>
            <a:ext cx="786384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097280" y="2971800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Are certain crimes more likely to occur during specific shifts (day, evening, midnight)?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74320" y="3575304"/>
            <a:ext cx="54864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274320" y="3575304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60120" y="3666744"/>
            <a:ext cx="786384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097280" y="3648456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Do crime rates follow a seasonal pattern across months of the year?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33483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 | Visualizations — At a Glance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74320" y="868680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274320" y="868680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11480" y="9052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 Univariate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11480" y="11247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Offense Distribution (countplot)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11480" y="130759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Which crimes are most common?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74320" y="1673352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274320" y="1673352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11480" y="170992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Univariate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11480" y="192938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Crime by Ward (countplot)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11480" y="2112264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Which wards have the most incidents?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274320" y="2478024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274320" y="2478024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11480" y="2514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Univariate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11480" y="27340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Crime by Shift (countplot)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11480" y="2916936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When do most crimes occur?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74320" y="3282696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274320" y="3282696"/>
            <a:ext cx="64008" cy="658368"/>
          </a:xfrm>
          <a:prstGeom prst="rect">
            <a:avLst/>
          </a:prstGeom>
          <a:solidFill>
            <a:srgbClr val="533483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11480" y="331927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3483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533483"/>
                </a:solidFill>
                <a:latin typeface="Trebuchet MS"/>
                <a:ea typeface="Trebuchet MS"/>
                <a:cs typeface="Trebuchet MS"/>
                <a:sym typeface="Trebuchet MS"/>
              </a:rPr>
              <a:t>Bivariate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11480" y="353872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Avg Reporting Lag by Offense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11480" y="372160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Which crimes take longest to report?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74320" y="4087368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74320" y="4087368"/>
            <a:ext cx="64008" cy="658368"/>
          </a:xfrm>
          <a:prstGeom prst="rect">
            <a:avLst/>
          </a:prstGeom>
          <a:solidFill>
            <a:srgbClr val="533483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11480" y="412394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3483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533483"/>
                </a:solidFill>
                <a:latin typeface="Trebuchet MS"/>
                <a:ea typeface="Trebuchet MS"/>
                <a:cs typeface="Trebuchet MS"/>
                <a:sym typeface="Trebuchet MS"/>
              </a:rPr>
              <a:t>Bivariate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11480" y="43434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Monthly Crime Trend (line)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11480" y="452628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Are there seasonal patterns?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754880" y="868680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754880" y="868680"/>
            <a:ext cx="64008" cy="65836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892040" y="9052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Multivariate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892040" y="11247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Offense × Ward Heatmap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892040" y="130759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 do specific crimes concentrate?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754880" y="1673352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754880" y="1673352"/>
            <a:ext cx="64008" cy="65836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892040" y="170992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Multivariate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92040" y="192938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Offense × Shift Grouped 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892040" y="2112264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Crime type × time of 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754880" y="2478024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754880" y="2478024"/>
            <a:ext cx="64008" cy="65836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892040" y="2514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892040" y="27340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Top 5 Offenses Over Time (Plotly)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892040" y="2916936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Monthly trends for top crimes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754880" y="3282696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754880" y="3282696"/>
            <a:ext cx="64008" cy="65836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892040" y="331927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892040" y="353872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Arson vs Homicide (Plotly bar)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892040" y="372160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Rare offense monthly breakdown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754880" y="4087368"/>
            <a:ext cx="4114800" cy="658368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754880" y="4087368"/>
            <a:ext cx="64008" cy="658368"/>
          </a:xfrm>
          <a:prstGeom prst="rect">
            <a:avLst/>
          </a:prstGeom>
          <a:solidFill>
            <a:srgbClr val="E97B00"/>
          </a:solidFill>
          <a:ln cap="flat" cmpd="sng" w="12700">
            <a:solidFill>
              <a:srgbClr val="E97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892040" y="412394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7B0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97B00"/>
                </a:solidFill>
                <a:latin typeface="Trebuchet MS"/>
                <a:ea typeface="Trebuchet MS"/>
                <a:cs typeface="Trebuchet MS"/>
                <a:sym typeface="Trebuchet MS"/>
              </a:rPr>
              <a:t>Surprise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892040" y="43434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Geospatial Crime Map (Mapbox)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892040" y="452628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incident plotted on DC 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Univariate  |  Offense Distribution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309360" y="914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shows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309360" y="12344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Frequency of each crime type, ranked from most to least common.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309360" y="2331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Establishes the baseline crime composition of D.C. before exploring relationships.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309360" y="31089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Key Insight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309360" y="34290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Theft and motor vehicle theft dominate — violent crimes like homicide and arson are rare by comparison.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034617"/>
            <a:ext cx="5760725" cy="3690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Bi</a:t>
            </a: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variate  |  </a:t>
            </a: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Average Time Spent on Each Offense Type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74320" y="822960"/>
            <a:ext cx="5760600" cy="40233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74320" y="822960"/>
            <a:ext cx="576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[Insert Offense Countplot Here]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309360" y="91440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shows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309360" y="123444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Frequency of each crime type, ranked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how quickly the cases are closed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309360" y="201168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09360" y="233172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Helps us outline which crimes may need more attention based on how much time it takes to resolve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309360" y="310896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Key Insight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309360" y="342900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Crimes relating to physical harm/assult tend to take more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88" y="746750"/>
            <a:ext cx="6002075" cy="42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Bivariate</a:t>
            </a: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 |  </a:t>
            </a: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Crime Trend Over 2025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274320" y="822960"/>
            <a:ext cx="5760600" cy="4023300"/>
          </a:xfrm>
          <a:prstGeom prst="rect">
            <a:avLst/>
          </a:prstGeom>
          <a:solidFill>
            <a:srgbClr val="0F3460">
              <a:alpha val="40000"/>
            </a:srgbClr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274320" y="822960"/>
            <a:ext cx="576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[Insert Plotly Mapbox Scatter Here]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309360" y="91440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shows &amp; why it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309360" y="1325880"/>
            <a:ext cx="256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These line plots show the rates of crimes monthly throughout the year.</a:t>
            </a:r>
            <a:endParaRPr sz="11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It can help us </a:t>
            </a: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preemptively</a:t>
            </a: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mitigate crimes at peak times</a:t>
            </a:r>
            <a:endParaRPr sz="11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6309360" y="237744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reveals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309360" y="2697480"/>
            <a:ext cx="256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During the warmer months, crime rates spike (theft specifically). In october, there is a </a:t>
            </a: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noticeable</a:t>
            </a: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dip in October in most offense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 b="8274" l="0" r="11559" t="0"/>
          <a:stretch/>
        </p:blipFill>
        <p:spPr>
          <a:xfrm>
            <a:off x="274325" y="848350"/>
            <a:ext cx="4082626" cy="21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1"/>
          <p:cNvPicPr preferRelativeResize="0"/>
          <p:nvPr/>
        </p:nvPicPr>
        <p:blipFill rotWithShape="1">
          <a:blip r:embed="rId4">
            <a:alphaModFix/>
          </a:blip>
          <a:srcRect b="8780" l="0" r="0" t="8780"/>
          <a:stretch/>
        </p:blipFill>
        <p:spPr>
          <a:xfrm>
            <a:off x="1335450" y="3004750"/>
            <a:ext cx="476297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Univariate</a:t>
            </a: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 |  </a:t>
            </a: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Frequency of Crime Incidents by Time of Day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309360" y="91440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is the Surprise plot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309360" y="1325880"/>
            <a:ext cx="256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Every other plot aggregates. This one preserves full spatial granularity — every single incident plotted at its exact coordinates.</a:t>
            </a:r>
            <a:endParaRPr b="0" i="0" sz="1100" u="none" cap="none" strike="noStrike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Midnight = 10pm to 8am</a:t>
            </a:r>
            <a:endParaRPr sz="11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Evening = 2pm to 12am</a:t>
            </a:r>
            <a:endParaRPr sz="11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Morning = 6am to 4pm</a:t>
            </a:r>
            <a:endParaRPr sz="11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309360" y="237744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reveals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309360" y="2697480"/>
            <a:ext cx="256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Most reports are made in the evening and in the day 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75" y="983100"/>
            <a:ext cx="5870751" cy="36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Multivariate  |  Offense × Ward Heatmap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309360" y="914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shows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309360" y="12344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Incident counts for each offense type across all 8 wards simultaneously.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309360" y="2331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Reveals geographic concentration of specific crime types that a simple frequency chart cannot show.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309360" y="31089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Key Insight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309360" y="34290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Certain wards show disproportionate concentrations of specific offenses, suggesting structural or environmental factors at play.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7884"/>
            <a:ext cx="6035050" cy="316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Surprise  |  Crime Locations Across D.C.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74320" y="822960"/>
            <a:ext cx="5760720" cy="4023360"/>
          </a:xfrm>
          <a:prstGeom prst="rect">
            <a:avLst/>
          </a:prstGeom>
          <a:solidFill>
            <a:srgbClr val="0F3460">
              <a:alpha val="40000"/>
            </a:srgbClr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274320" y="822960"/>
            <a:ext cx="5760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[Insert Plotly Mapbox Scatter Here]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309360" y="9144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is the Surprise plot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309360" y="13258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Every other plot aggregates. This one preserves full spatial granularity — every single incident plotted at its exact coordinates.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309360" y="23774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reveals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6309360" y="269748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Geographic hotspots, spatial clustering of specific offense types, and the physical shape of crime across the city — insights no chart can provide.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4"/>
          <p:cNvPicPr preferRelativeResize="0"/>
          <p:nvPr/>
        </p:nvPicPr>
        <p:blipFill rotWithShape="1">
          <a:blip r:embed="rId3">
            <a:alphaModFix/>
          </a:blip>
          <a:srcRect b="12884" l="4003" r="0" t="0"/>
          <a:stretch/>
        </p:blipFill>
        <p:spPr>
          <a:xfrm>
            <a:off x="439300" y="822950"/>
            <a:ext cx="5437007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33483"/>
          </a:solidFill>
          <a:ln cap="flat" cmpd="sng" w="12700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07 | Key Findings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274320" y="868680"/>
            <a:ext cx="4114800" cy="11430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274320" y="868680"/>
            <a:ext cx="64008" cy="11430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457200" y="9601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Theft Dominates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457200" y="12801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Property crimes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especially theft and motor vehicle theft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account for the largest share of all reported incidents citywide.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4754880" y="868680"/>
            <a:ext cx="4114800" cy="11430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4754880" y="868680"/>
            <a:ext cx="64008" cy="11430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4937760" y="9601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Ward-Level Disparity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937760" y="12801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Crime is not evenly distributed. Certain wards consistently report higher volumes and different offense compositions than others.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457200" y="2331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Shift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57200" y="26517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Incidents are not uniformly distributed across shifts — evening and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shifts show elevated counts of reporting for specific offense types.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754880" y="2240280"/>
            <a:ext cx="4114800" cy="11430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4754880" y="2240280"/>
            <a:ext cx="64008" cy="11430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4937760" y="2331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Trends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4937760" y="26517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Warmer Months tend to have higher reported incidents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274320" y="3611880"/>
            <a:ext cx="4114800" cy="11430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274320" y="3611880"/>
            <a:ext cx="64008" cy="11430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457200" y="3703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Reporting Lag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57200" y="40233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meaningful gap exists between incident occurrence and report filing — and it varies significantly by offense type.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754880" y="3611880"/>
            <a:ext cx="4114800" cy="11430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4754880" y="3611880"/>
            <a:ext cx="64008" cy="11430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4937760" y="3703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Spatial Hotspots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937760" y="40233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geospatial map reveals clear geographic clustering, with certain neighborhoods concentrating disproportionate incident density.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Additional Analysis / Findings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0" y="876300"/>
            <a:ext cx="4428300" cy="4227300"/>
          </a:xfrm>
          <a:prstGeom prst="rect">
            <a:avLst/>
          </a:prstGeom>
          <a:solidFill>
            <a:srgbClr val="FFFFFF"/>
          </a:solidFill>
          <a:ln cap="flat" cmpd="sng" w="139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1829" rotWithShape="0" algn="bl" dir="8100000" dist="41936">
              <a:srgbClr val="000000">
                <a:alpha val="10196"/>
              </a:srgbClr>
            </a:outerShdw>
          </a:effectLst>
        </p:spPr>
        <p:txBody>
          <a:bodyPr anchorCtr="0" anchor="ctr" bIns="100650" lIns="100650" spcFirstLastPara="1" rIns="100650" wrap="square" tIns="100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0" y="876300"/>
            <a:ext cx="4428300" cy="70200"/>
          </a:xfrm>
          <a:prstGeom prst="rect">
            <a:avLst/>
          </a:prstGeom>
          <a:solidFill>
            <a:srgbClr val="533483"/>
          </a:solidFill>
          <a:ln cap="flat" cmpd="sng" w="13975">
            <a:solidFill>
              <a:srgbClr val="53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650" lIns="100650" spcFirstLastPara="1" rIns="100650" wrap="square" tIns="100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201292" y="976946"/>
            <a:ext cx="4026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541"/>
              <a:buFont typeface="Trebuchet MS"/>
              <a:buNone/>
            </a:pPr>
            <a:r>
              <a:rPr b="1" i="0" lang="en-US" sz="1541" u="none" cap="none" strike="noStrike">
                <a:solidFill>
                  <a:srgbClr val="0F3460"/>
                </a:solidFill>
                <a:latin typeface="Trebuchet MS"/>
                <a:ea typeface="Trebuchet MS"/>
                <a:cs typeface="Trebuchet MS"/>
                <a:sym typeface="Trebuchet MS"/>
              </a:rPr>
              <a:t>Top 15 Neighborhood Clusters</a:t>
            </a:r>
            <a:endParaRPr b="0" i="0" sz="15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201292" y="3996692"/>
            <a:ext cx="4026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1"/>
              <a:buFont typeface="Calibri"/>
              <a:buNone/>
            </a:pPr>
            <a:r>
              <a:rPr b="0" i="0" lang="en-US" sz="1101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Motivation: Wards are large units that can mask hyper-local disparities. Drilling to neighborhood clusters — and mapping them — reveals whether high-crime areas are contiguous hotspot corridors or scattered pockets, with direct implications for resource allocation.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62" y="1423356"/>
            <a:ext cx="3099111" cy="247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 rotWithShape="1">
          <a:blip r:embed="rId4">
            <a:alphaModFix/>
          </a:blip>
          <a:srcRect b="-16212" l="4644" r="0" t="0"/>
          <a:stretch/>
        </p:blipFill>
        <p:spPr>
          <a:xfrm>
            <a:off x="4291375" y="698525"/>
            <a:ext cx="4428300" cy="458283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/>
          <p:nvPr/>
        </p:nvSpPr>
        <p:spPr>
          <a:xfrm>
            <a:off x="5758850" y="2476550"/>
            <a:ext cx="1572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5330550" y="2293450"/>
            <a:ext cx="11739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Howard University</a:t>
            </a:r>
            <a:endParaRPr sz="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6217920" y="2286000"/>
            <a:ext cx="4114800" cy="4114800"/>
          </a:xfrm>
          <a:prstGeom prst="ellipse">
            <a:avLst/>
          </a:prstGeom>
          <a:solidFill>
            <a:srgbClr val="0F3460">
              <a:alpha val="30196"/>
            </a:srgbClr>
          </a:solidFill>
          <a:ln cap="flat" cmpd="sng" w="12700">
            <a:solidFill>
              <a:srgbClr val="0F3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08 | Conclusion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57200" y="10058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Crime in D.C. is not random —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457200" y="155448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it is structured.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457200" y="2331720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This dataset reveals that where, when, and what type of crime occurs are deeply interconnected. Property crimes dominate but concentrate spatially. Reporting lag exposes a hidden behavioral dimension. And the geospatial map makes visible what no aggregate chart can</a:t>
            </a:r>
            <a:r>
              <a:rPr lang="en-US" sz="13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the physical texture of urban crime across a living city.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457200" y="40690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Understanding these patterns is not just an analytical exercise — it is a step toward more equitable, evidence-based public safety.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88"/>
                </a:solidFill>
                <a:latin typeface="Calibri"/>
                <a:ea typeface="Calibri"/>
                <a:cs typeface="Calibri"/>
                <a:sym typeface="Calibri"/>
              </a:rPr>
              <a:t>Temiloluwa Owoade  |  MATH 014  |  Howard University  |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